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US" sz="1400" b="1">
                <a:solidFill>
                  <a:srgbClr val="222222"/>
                </a:solidFill>
                <a:latin typeface="Calibri"/>
              </a:rPr>
              <a:t>Accidents per year in Italy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Accidents</c:v>
                </c:pt>
              </c:strCache>
            </c:strRef>
          </c:tx>
          <c:spPr>
            <a:ln w="31750">
              <a:solidFill>
                <a:srgbClr val="1F4E79"/>
              </a:solidFill>
            </a:ln>
          </c:spPr>
          <c:marker>
            <c:symbol val="none"/>
          </c:marker>
          <c:cat>
            <c:strRef>
              <c:f>Sheet1!$A$2:$A$25</c:f>
              <c:strCache>
                <c:ptCount val="24"/>
                <c:pt idx="0">
                  <c:v>2001</c:v>
                </c:pt>
                <c:pt idx="1">
                  <c:v>2002</c:v>
                </c:pt>
                <c:pt idx="2">
                  <c:v>2003</c:v>
                </c:pt>
                <c:pt idx="3">
                  <c:v>2004</c:v>
                </c:pt>
                <c:pt idx="4">
                  <c:v>2005</c:v>
                </c:pt>
                <c:pt idx="5">
                  <c:v>2006</c:v>
                </c:pt>
                <c:pt idx="6">
                  <c:v>2007</c:v>
                </c:pt>
                <c:pt idx="7">
                  <c:v>2008</c:v>
                </c:pt>
                <c:pt idx="8">
                  <c:v>2009</c:v>
                </c:pt>
                <c:pt idx="9">
                  <c:v>2010</c:v>
                </c:pt>
                <c:pt idx="10">
                  <c:v>2011</c:v>
                </c:pt>
                <c:pt idx="11">
                  <c:v>2012</c:v>
                </c:pt>
                <c:pt idx="12">
                  <c:v>2013</c:v>
                </c:pt>
                <c:pt idx="13">
                  <c:v>2014</c:v>
                </c:pt>
                <c:pt idx="14">
                  <c:v>2015</c:v>
                </c:pt>
                <c:pt idx="15">
                  <c:v>2016</c:v>
                </c:pt>
                <c:pt idx="16">
                  <c:v>2017</c:v>
                </c:pt>
                <c:pt idx="17">
                  <c:v>2018</c:v>
                </c:pt>
                <c:pt idx="18">
                  <c:v>2019</c:v>
                </c:pt>
                <c:pt idx="19">
                  <c:v>2020</c:v>
                </c:pt>
                <c:pt idx="20">
                  <c:v>2021</c:v>
                </c:pt>
                <c:pt idx="21">
                  <c:v>2022</c:v>
                </c:pt>
                <c:pt idx="22">
                  <c:v>2023</c:v>
                </c:pt>
                <c:pt idx="23">
                  <c:v>2024</c:v>
                </c:pt>
              </c:strCache>
            </c: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254474</c:v>
                </c:pt>
                <c:pt idx="1">
                  <c:v>256915</c:v>
                </c:pt>
                <c:pt idx="2">
                  <c:v>244303</c:v>
                </c:pt>
                <c:pt idx="3">
                  <c:v>235979</c:v>
                </c:pt>
                <c:pt idx="4">
                  <c:v>232372</c:v>
                </c:pt>
                <c:pt idx="5">
                  <c:v>229576</c:v>
                </c:pt>
                <c:pt idx="6">
                  <c:v>222795</c:v>
                </c:pt>
                <c:pt idx="7">
                  <c:v>211432</c:v>
                </c:pt>
                <c:pt idx="8">
                  <c:v>207545</c:v>
                </c:pt>
                <c:pt idx="9">
                  <c:v>210480</c:v>
                </c:pt>
                <c:pt idx="10">
                  <c:v>203230</c:v>
                </c:pt>
                <c:pt idx="11">
                  <c:v>185810</c:v>
                </c:pt>
                <c:pt idx="12">
                  <c:v>179345</c:v>
                </c:pt>
                <c:pt idx="13">
                  <c:v>175268</c:v>
                </c:pt>
                <c:pt idx="14">
                  <c:v>172746</c:v>
                </c:pt>
                <c:pt idx="15">
                  <c:v>174096</c:v>
                </c:pt>
                <c:pt idx="16">
                  <c:v>174375</c:v>
                </c:pt>
                <c:pt idx="17">
                  <c:v>172208</c:v>
                </c:pt>
                <c:pt idx="18">
                  <c:v>172099</c:v>
                </c:pt>
                <c:pt idx="19">
                  <c:v>118269</c:v>
                </c:pt>
                <c:pt idx="20">
                  <c:v>151838</c:v>
                </c:pt>
                <c:pt idx="21">
                  <c:v>165852</c:v>
                </c:pt>
                <c:pt idx="22">
                  <c:v>166489</c:v>
                </c:pt>
                <c:pt idx="23">
                  <c:v>173364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2DA-44FF-93CC-8B1818EDFF1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  <a:endParaRPr lang="it-IT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in val="100000"/>
        </c:scaling>
        <c:delete val="0"/>
        <c:axPos val="l"/>
        <c:majorGridlines>
          <c:spPr>
            <a:ln>
              <a:solidFill>
                <a:srgbClr val="E3E7E9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  <a:endParaRPr lang="it-IT"/>
          </a:p>
        </c:txPr>
        <c:crossAx val="211879178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364499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L'azienda vuole sapere dove investire. Non basta il totale degli incidenti: guardo anche per abitante e per km².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Ho seguito tutto il processo, dal download alla dashboard. A destra le tre difficoltà principali che ho risolto.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Python per l'analisi, Power BI per mostrare i risultati, GitHub per salvare il progetto.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Ogni classifica risponde a una domanda diversa. L'ANOVA dice che la differenza tra le zone non è casuale. La previsione è solo una tendenza.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Il consiglio è partire dai comuni ad alto rischio per abitante del Centro-Nord. Il tipo di intervento dipende dal gruppo.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F4E79"/>
                </a:solidFill>
                <a:latin typeface="Calibri"/>
              </a:rPr>
              <a:t>Road accidents in Italy: where to invest?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 dirty="0">
                <a:solidFill>
                  <a:srgbClr val="222222"/>
                </a:solidFill>
                <a:latin typeface="Calibri"/>
              </a:rPr>
              <a:t>I looked for the Italian towns with the most accidents: in total, per inhabitant and per km².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3291840"/>
            <a:ext cx="3383280" cy="1737360"/>
          </a:xfrm>
          <a:prstGeom prst="roundRect">
            <a:avLst>
              <a:gd name="adj" fmla="val 6000"/>
            </a:avLst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3474720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4000" b="1">
                <a:solidFill>
                  <a:srgbClr val="1F4E79"/>
                </a:solidFill>
                <a:latin typeface="Calibri"/>
              </a:rPr>
              <a:t>168,557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434340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666666"/>
                </a:solidFill>
                <a:latin typeface="Calibri"/>
              </a:rPr>
              <a:t>accidents per year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3291840"/>
            <a:ext cx="3383280" cy="1737360"/>
          </a:xfrm>
          <a:prstGeom prst="roundRect">
            <a:avLst>
              <a:gd name="adj" fmla="val 6000"/>
            </a:avLst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63440" y="3474720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4000" b="1">
                <a:solidFill>
                  <a:srgbClr val="1F4E79"/>
                </a:solidFill>
                <a:latin typeface="Calibri"/>
              </a:rPr>
              <a:t>3,075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434340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666666"/>
                </a:solidFill>
                <a:latin typeface="Calibri"/>
              </a:rPr>
              <a:t>deaths per year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3291840"/>
            <a:ext cx="3383280" cy="1737360"/>
          </a:xfrm>
          <a:prstGeom prst="roundRect">
            <a:avLst>
              <a:gd name="adj" fmla="val 6000"/>
            </a:avLst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21040" y="3474720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4000" b="1">
                <a:solidFill>
                  <a:srgbClr val="1F4E79"/>
                </a:solidFill>
                <a:latin typeface="Calibri"/>
              </a:rPr>
              <a:t>28.6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434340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666666"/>
                </a:solidFill>
                <a:latin typeface="Calibri"/>
              </a:rPr>
              <a:t>accidents per 10,000 inhabitants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7607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Calibri"/>
              </a:rPr>
              <a:t>Italy, average 2022-2024. Data: ISTAT (accidents) and SITUAS (population and area).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F4E79"/>
                </a:solidFill>
                <a:latin typeface="Calibri"/>
              </a:rPr>
              <a:t>What I did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>
                <a:solidFill>
                  <a:srgbClr val="1F4E79"/>
                </a:solidFill>
                <a:latin typeface="Calibri"/>
              </a:rPr>
              <a:t>1.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1463040"/>
            <a:ext cx="6035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Downloaded the ISTAT data with the API and saved it on my PC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2996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>
                <a:solidFill>
                  <a:srgbClr val="1F4E79"/>
                </a:solidFill>
                <a:latin typeface="Calibri"/>
              </a:rPr>
              <a:t>2.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029968"/>
            <a:ext cx="6035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Got population and area from SITUAS with web scraping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96896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>
                <a:solidFill>
                  <a:srgbClr val="1F4E79"/>
                </a:solidFill>
                <a:latin typeface="Calibri"/>
              </a:rPr>
              <a:t>3.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596896"/>
            <a:ext cx="6035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Cleaned the data and joined the two tables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163824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>
                <a:solidFill>
                  <a:srgbClr val="1F4E79"/>
                </a:solidFill>
                <a:latin typeface="Calibri"/>
              </a:rPr>
              <a:t>4.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163824"/>
            <a:ext cx="6035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Calculated accidents per 10,000 inhabitants and per km²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73075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>
                <a:solidFill>
                  <a:srgbClr val="1F4E79"/>
                </a:solidFill>
                <a:latin typeface="Calibri"/>
              </a:rPr>
              <a:t>5.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730752"/>
            <a:ext cx="6035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Grouped the towns with clustering (KMeans)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2976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>
                <a:solidFill>
                  <a:srgbClr val="1F4E79"/>
                </a:solidFill>
                <a:latin typeface="Calibri"/>
              </a:rPr>
              <a:t>6.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4297680"/>
            <a:ext cx="6035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ANOVA test and a simple forecast (linear regression)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86460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>
                <a:solidFill>
                  <a:srgbClr val="1F4E79"/>
                </a:solidFill>
                <a:latin typeface="Calibri"/>
              </a:rPr>
              <a:t>7.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864608"/>
            <a:ext cx="6035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Built a dashboard in Power BI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80960" y="1463040"/>
            <a:ext cx="3749039" cy="4023360"/>
          </a:xfrm>
          <a:prstGeom prst="roundRect">
            <a:avLst>
              <a:gd name="adj" fmla="val 6000"/>
            </a:avLst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955279" y="16459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>
                <a:solidFill>
                  <a:srgbClr val="1F4E79"/>
                </a:solidFill>
                <a:latin typeface="Calibri"/>
              </a:rPr>
              <a:t>Problems I solved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79" y="2194560"/>
            <a:ext cx="32918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>- API limit: 5 calls per minute, so I saved the data once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>- 2024: towns with 0 accidents were missing, I counted them as 0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>- Very small towns have extreme rates: I used towns with 10,000+ inhabitants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F4E79"/>
                </a:solidFill>
                <a:latin typeface="Calibri"/>
              </a:rPr>
              <a:t>Tools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463040"/>
          <a:ext cx="82296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Tool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Used for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222222"/>
                          </a:solidFill>
                          <a:latin typeface="Calibri"/>
                        </a:rPr>
                        <a:t>Python + pandas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Calibri"/>
                        </a:rPr>
                        <a:t>download, cleaning, new columns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222222"/>
                          </a:solidFill>
                          <a:latin typeface="Calibri"/>
                        </a:rPr>
                        <a:t>requests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Calibri"/>
                        </a:rPr>
                        <a:t>ISTAT API and SITUAS scraping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222222"/>
                          </a:solidFill>
                          <a:latin typeface="Calibri"/>
                        </a:rPr>
                        <a:t>matplotlib, seaborn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Calibri"/>
                        </a:rPr>
                        <a:t>charts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222222"/>
                          </a:solidFill>
                          <a:latin typeface="Calibri"/>
                        </a:rPr>
                        <a:t>scikit-learn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Calibri"/>
                        </a:rPr>
                        <a:t>clustering (KMeans)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222222"/>
                          </a:solidFill>
                          <a:latin typeface="Calibri"/>
                        </a:rPr>
                        <a:t>scipy, statsmodels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Calibri"/>
                        </a:rPr>
                        <a:t>ANOVA and regression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222222"/>
                          </a:solidFill>
                          <a:latin typeface="Calibri"/>
                        </a:rPr>
                        <a:t>Power BI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Calibri"/>
                        </a:rPr>
                        <a:t>dashboard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222222"/>
                          </a:solidFill>
                          <a:latin typeface="Calibri"/>
                        </a:rPr>
                        <a:t>Git, GitHub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Calibri"/>
                        </a:rPr>
                        <a:t>save and share the project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F4E79"/>
                </a:solidFill>
                <a:latin typeface="Calibri"/>
              </a:rPr>
              <a:t>What I found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548640" y="1371600"/>
          <a:ext cx="585216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566928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0">
                <a:solidFill>
                  <a:srgbClr val="666666"/>
                </a:solidFill>
                <a:latin typeface="Calibri"/>
              </a:rPr>
              <a:t>The drop in 2020 is because of the COVID lockdown.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0" y="155448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700" b="0">
                <a:solidFill>
                  <a:srgbClr val="222222"/>
                </a:solidFill>
                <a:latin typeface="Calibri"/>
              </a:rPr>
              <a:t>- Most accidents per inhabitant: tourist towns and big cities like Bergamo, Florence, Genoa</a:t>
            </a:r>
          </a:p>
          <a:p>
            <a:pPr algn="l">
              <a:spcAft>
                <a:spcPts val="1400"/>
              </a:spcAft>
            </a:pPr>
            <a:r>
              <a:rPr sz="1700" b="0">
                <a:solidFill>
                  <a:srgbClr val="222222"/>
                </a:solidFill>
                <a:latin typeface="Calibri"/>
              </a:rPr>
              <a:t>- Most accidents per km²: Milan, Florence, Turin, Naples</a:t>
            </a:r>
          </a:p>
          <a:p>
            <a:pPr algn="l">
              <a:spcAft>
                <a:spcPts val="1400"/>
              </a:spcAft>
            </a:pPr>
            <a:r>
              <a:rPr sz="1700" b="0">
                <a:solidFill>
                  <a:srgbClr val="222222"/>
                </a:solidFill>
                <a:latin typeface="Calibri"/>
              </a:rPr>
              <a:t>- Centre and North have more accidents than South and Islands (ANOVA)</a:t>
            </a:r>
          </a:p>
          <a:p>
            <a:pPr algn="l">
              <a:spcAft>
                <a:spcPts val="1400"/>
              </a:spcAft>
            </a:pPr>
            <a:r>
              <a:rPr sz="1700" b="0">
                <a:solidFill>
                  <a:srgbClr val="222222"/>
                </a:solidFill>
                <a:latin typeface="Calibri"/>
              </a:rPr>
              <a:t>- 3 groups of towns: high risk per inhabitant, dense cities, fewer but more serious accidents</a:t>
            </a:r>
          </a:p>
          <a:p>
            <a:pPr algn="l">
              <a:spcAft>
                <a:spcPts val="1400"/>
              </a:spcAft>
            </a:pPr>
            <a:r>
              <a:rPr sz="1700" b="0">
                <a:solidFill>
                  <a:srgbClr val="222222"/>
                </a:solidFill>
                <a:latin typeface="Calibri"/>
              </a:rPr>
              <a:t>- Forecast: a small decrease, about 167,000 accidents in 2025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F4E79"/>
                </a:solidFill>
                <a:latin typeface="Calibri"/>
              </a:rPr>
              <a:t>Where to invest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3383280" cy="2697480"/>
          </a:xfrm>
          <a:prstGeom prst="roundRect">
            <a:avLst>
              <a:gd name="adj" fmla="val 6000"/>
            </a:avLst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1645920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900" b="1">
                <a:solidFill>
                  <a:srgbClr val="D85A30"/>
                </a:solidFill>
                <a:latin typeface="Calibri"/>
              </a:rPr>
              <a:t>1. High risk per inhabitant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146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>
                <a:solidFill>
                  <a:srgbClr val="666666"/>
                </a:solidFill>
                <a:latin typeface="Calibri"/>
              </a:rPr>
              <a:t>326 towns, mostly Centre and North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200400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Calibri"/>
              </a:rPr>
              <a:t>Prevention and road safety checks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383280" cy="2697480"/>
          </a:xfrm>
          <a:prstGeom prst="roundRect">
            <a:avLst>
              <a:gd name="adj" fmla="val 6000"/>
            </a:avLst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63440" y="1645920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900" b="1">
                <a:solidFill>
                  <a:srgbClr val="7F77DD"/>
                </a:solidFill>
                <a:latin typeface="Calibri"/>
              </a:rPr>
              <a:t>2. Dense cities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25146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>
                <a:solidFill>
                  <a:srgbClr val="666666"/>
                </a:solidFill>
                <a:latin typeface="Calibri"/>
              </a:rPr>
              <a:t>87 towns (Milan, Naples, Turin...)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3200400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Calibri"/>
              </a:rPr>
              <a:t>Better traffic management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463040"/>
            <a:ext cx="3383280" cy="2697480"/>
          </a:xfrm>
          <a:prstGeom prst="roundRect">
            <a:avLst>
              <a:gd name="adj" fmla="val 6000"/>
            </a:avLst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21040" y="1645920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900" b="1">
                <a:solidFill>
                  <a:srgbClr val="1D9E75"/>
                </a:solidFill>
                <a:latin typeface="Calibri"/>
              </a:rPr>
              <a:t>3. Fewer but more serious accidents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5146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>
                <a:solidFill>
                  <a:srgbClr val="666666"/>
                </a:solidFill>
                <a:latin typeface="Calibri"/>
              </a:rPr>
              <a:t>789 towns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3200400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Calibri"/>
              </a:rPr>
              <a:t>Speed control on extra-urban roads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3891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>
                <a:solidFill>
                  <a:srgbClr val="1F4E79"/>
                </a:solidFill>
                <a:latin typeface="Calibri"/>
              </a:rPr>
              <a:t>Limits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84632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Calibri"/>
              </a:rPr>
              <a:t>- Only accidents with injured people or deaths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Calibri"/>
              </a:rPr>
              <a:t>- Rates use residents only, so tourist towns look more dangerous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0">
                <a:solidFill>
                  <a:srgbClr val="666666"/>
                </a:solidFill>
                <a:latin typeface="Calibri"/>
              </a:rPr>
              <a:t>Project: github.com/aledoll01-sys/progetto_finale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517</Words>
  <Application>Microsoft Office PowerPoint</Application>
  <PresentationFormat>Widescreen</PresentationFormat>
  <Paragraphs>72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Alesia Dollaku</cp:lastModifiedBy>
  <cp:revision>2</cp:revision>
  <dcterms:created xsi:type="dcterms:W3CDTF">2013-01-27T09:14:16Z</dcterms:created>
  <dcterms:modified xsi:type="dcterms:W3CDTF">2026-10-18T19:43:41Z</dcterms:modified>
  <cp:category/>
</cp:coreProperties>
</file>