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400" b="1">
                <a:solidFill>
                  <a:srgbClr val="222222"/>
                </a:solidFill>
                <a:latin typeface="Calibri"/>
              </a:rPr>
              <a:t>Accidents per year in Italy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Accidents</c:v>
                </c:pt>
              </c:strCache>
            </c:strRef>
          </c:tx>
          <c:spPr>
            <a:ln w="31750">
              <a:solidFill>
                <a:srgbClr val="1F4E79"/>
              </a:solidFill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254474</c:v>
                </c:pt>
                <c:pt idx="1">
                  <c:v>256915</c:v>
                </c:pt>
                <c:pt idx="2">
                  <c:v>244303</c:v>
                </c:pt>
                <c:pt idx="3">
                  <c:v>235979</c:v>
                </c:pt>
                <c:pt idx="4">
                  <c:v>232372</c:v>
                </c:pt>
                <c:pt idx="5">
                  <c:v>229576</c:v>
                </c:pt>
                <c:pt idx="6">
                  <c:v>222795</c:v>
                </c:pt>
                <c:pt idx="7">
                  <c:v>211432</c:v>
                </c:pt>
                <c:pt idx="8">
                  <c:v>207545</c:v>
                </c:pt>
                <c:pt idx="9">
                  <c:v>210480</c:v>
                </c:pt>
                <c:pt idx="10">
                  <c:v>203230</c:v>
                </c:pt>
                <c:pt idx="11">
                  <c:v>185810</c:v>
                </c:pt>
                <c:pt idx="12">
                  <c:v>179345</c:v>
                </c:pt>
                <c:pt idx="13">
                  <c:v>175268</c:v>
                </c:pt>
                <c:pt idx="14">
                  <c:v>172746</c:v>
                </c:pt>
                <c:pt idx="15">
                  <c:v>174096</c:v>
                </c:pt>
                <c:pt idx="16">
                  <c:v>174375</c:v>
                </c:pt>
                <c:pt idx="17">
                  <c:v>172208</c:v>
                </c:pt>
                <c:pt idx="18">
                  <c:v>172099</c:v>
                </c:pt>
                <c:pt idx="19">
                  <c:v>118269</c:v>
                </c:pt>
                <c:pt idx="20">
                  <c:v>151838</c:v>
                </c:pt>
                <c:pt idx="21">
                  <c:v>165852</c:v>
                </c:pt>
                <c:pt idx="22">
                  <c:v>166489</c:v>
                </c:pt>
                <c:pt idx="23">
                  <c:v>173364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2DA-44FF-93CC-8B1818EDFF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100000"/>
        </c:scaling>
        <c:delete val="0"/>
        <c:axPos val="l"/>
        <c:majorGridlines>
          <c:spPr>
            <a:ln>
              <a:solidFill>
                <a:srgbClr val="E3E7E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it-IT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6449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L'azienda vuole sapere dove investire. Non basta il totale degli incidenti: guardo anche per abitante e per km².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 seguito tutto il processo, dal download alla dashboard. A destra le tre difficoltà principali che ho risolto.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Python per l'analisi, Power BI per mostrare i risultati, GitHub per salvare il progetto.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Ogni classifica risponde a una domanda diversa. L'ANOVA dice che la differenza tra le zone non è casuale. La previsione è solo una tendenza.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Il consiglio è partire dai comuni ad alto rischio per abitante del Centro-Nord. Il tipo di intervento dipende dal gruppo.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Road accidents in Italy: where to invest?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dirty="0">
                <a:solidFill>
                  <a:srgbClr val="222222"/>
                </a:solidFill>
                <a:latin typeface="Calibri"/>
              </a:rPr>
              <a:t>I looked for the Italian towns with the most accidents: in total, per inhabitant and per km².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168,557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43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accidents per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9184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3,075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343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deaths per 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29184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28.6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343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accidents per 10,000 inhabitants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Italy, average 2022-2024. Data: ISTAT (accidents) and SITUAS (population and area).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What I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46304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Downloaded the ISTAT data with the API and saved it on my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029968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Got population and area from SITUAS with web scraping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9689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96896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Cleaned the data and joined the two 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6382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63824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Calculated accidents per 10,000 inhabitants and per km²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730752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Grouped the towns with clustering (KMeans)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976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ANOVA test and a simple forecast (linear regression)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646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64608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Built a dashboard in Power BI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463040"/>
            <a:ext cx="3749039" cy="40233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79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Problems I solved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1945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- API limit: 5 calls per minute, so I saved the data once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- 2024: towns with 0 accidents were missing, I counted them as 0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- Very small towns have extreme rates: I used towns with 10,000+ inhabitants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Python + pandas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download, cleaning, new columns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requests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ISTAT API and SITUAS scraping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matplotlib, seaborn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clustering (KMeans)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scipy, statsmodels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ANOVA and regression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Power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Git, GitHub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save and share the project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What I found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37160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6692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The drop in 2020 is because of the COVID lockdown.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- Most accidents per inhabitant: tourist towns and big cities like Bergamo, Florence, Genoa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- Most accidents per km²: Milan, Florence, Turin, Naples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- Centre and North have more accidents than South and Islands (ANOVA)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- 3 groups of towns: high risk per inhabitant, dense cities, fewer but more serious accidents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- Forecast: a small decrease, about 167,000 accidents in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Where to invest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269748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D85A30"/>
                </a:solidFill>
                <a:latin typeface="Calibri"/>
              </a:rPr>
              <a:t>1. High risk per inhabitant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  <a:latin typeface="Calibri"/>
              </a:rPr>
              <a:t>326 towns, mostly Centre and North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0040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Prevention and road safety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269748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7F77DD"/>
                </a:solidFill>
                <a:latin typeface="Calibri"/>
              </a:rPr>
              <a:t>2. Dense cities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  <a:latin typeface="Calibri"/>
              </a:rPr>
              <a:t>87 towns (Milan, Naples, Turin...)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0040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Better traffic management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69748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D9E75"/>
                </a:solidFill>
                <a:latin typeface="Calibri"/>
              </a:rPr>
              <a:t>3. Fewer but more serious accidents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666666"/>
                </a:solidFill>
                <a:latin typeface="Calibri"/>
              </a:rPr>
              <a:t>789 towns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20040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Speed control on extra-urban roads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485</Words>
  <Application>Microsoft Office PowerPoint</Application>
  <PresentationFormat>Widescreen</PresentationFormat>
  <Paragraphs>68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Alesia Dollaku</cp:lastModifiedBy>
  <cp:revision>3</cp:revision>
  <dcterms:created xsi:type="dcterms:W3CDTF">2013-01-27T09:14:16Z</dcterms:created>
  <dcterms:modified xsi:type="dcterms:W3CDTF">2026-10-18T19:46:33Z</dcterms:modified>
  <cp:category/>
</cp:coreProperties>
</file>